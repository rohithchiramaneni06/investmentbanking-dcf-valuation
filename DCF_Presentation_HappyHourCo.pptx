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5"/>
  </p:notesMasterIdLst>
  <p:sldIdLst>
    <p:sldId id="573" r:id="rId2"/>
    <p:sldId id="575" r:id="rId3"/>
    <p:sldId id="576" r:id="rId4"/>
  </p:sldIdLst>
  <p:sldSz cx="10688638" cy="7562850"/>
  <p:notesSz cx="6805613" cy="9944100"/>
  <p:custDataLst>
    <p:tags r:id="rId6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5646" autoAdjust="0"/>
  </p:normalViewPr>
  <p:slideViewPr>
    <p:cSldViewPr snapToGrid="0" snapToObjects="1">
      <p:cViewPr varScale="1">
        <p:scale>
          <a:sx n="61" d="100"/>
          <a:sy n="61" d="100"/>
        </p:scale>
        <p:origin x="1764" y="60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Illustrative DCF analysis for Happy Hour Co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823702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r>
              <a:rPr lang="en-GB" sz="700" dirty="0">
                <a:solidFill>
                  <a:schemeClr val="tx2"/>
                </a:solidFill>
              </a:rPr>
              <a:t>Source: </a:t>
            </a:r>
            <a:r>
              <a:rPr lang="en-GB" sz="700" dirty="0">
                <a:solidFill>
                  <a:srgbClr val="6D6E6A"/>
                </a:solidFill>
              </a:rPr>
              <a:t>Company Business Plan (January 2020); </a:t>
            </a:r>
            <a:r>
              <a:rPr lang="en-GB" sz="700" dirty="0">
                <a:solidFill>
                  <a:schemeClr val="tx2"/>
                </a:solidFill>
              </a:rPr>
              <a:t>Equity research; J.P. Morgan analysis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-1899878" y="143032"/>
            <a:ext cx="1544180" cy="216293"/>
            <a:chOff x="814747" y="114751"/>
            <a:chExt cx="1544180" cy="216293"/>
          </a:xfrm>
        </p:grpSpPr>
        <p:sp>
          <p:nvSpPr>
            <p:cNvPr id="18" name="Rectangle 1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gray">
            <a:xfrm>
              <a:off x="814747" y="114751"/>
              <a:ext cx="771191" cy="2162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dirty="0"/>
                <a:t>Broker case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gray">
            <a:xfrm>
              <a:off x="1587736" y="114751"/>
              <a:ext cx="771191" cy="216293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bg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36576" tIns="329184" rIns="36576" bIns="329184" anchor="ctr">
              <a:noAutofit/>
            </a:bodyPr>
            <a:lstStyle/>
            <a:p>
              <a:pPr marL="0" lvl="1" algn="ctr" defTabSz="1019175">
                <a:buClr>
                  <a:srgbClr val="7397BC"/>
                </a:buClr>
                <a:buSzPct val="92000"/>
              </a:pPr>
              <a:r>
                <a:rPr lang="en-US" sz="700" b="1" dirty="0">
                  <a:solidFill>
                    <a:schemeClr val="bg1"/>
                  </a:solidFill>
                </a:rPr>
                <a:t>Management case</a:t>
              </a:r>
            </a:p>
          </p:txBody>
        </p:sp>
      </p:grp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r>
              <a:rPr lang="en-GB" sz="900" dirty="0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9D322D-55EB-A954-ACC9-F976F27DBC27}"/>
              </a:ext>
            </a:extLst>
          </p:cNvPr>
          <p:cNvSpPr txBox="1"/>
          <p:nvPr/>
        </p:nvSpPr>
        <p:spPr>
          <a:xfrm>
            <a:off x="795529" y="1245476"/>
            <a:ext cx="9483588" cy="10231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estimates the enterprise and equity value of Happy Hour Co using a discounted cash flow (DCF) approach.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terminal value methodologies are applied — the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perpetuity growth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EBITDA multiple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methods.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of firm value to changes in the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WACC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growth/multiples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been analysed to test valuation robustness.</a:t>
            </a:r>
            <a:endParaRPr lang="en-IN" sz="1400" b="0" i="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Content Placeholder 4">
            <a:extLst>
              <a:ext uri="{FF2B5EF4-FFF2-40B4-BE49-F238E27FC236}">
                <a16:creationId xmlns:a16="http://schemas.microsoft.com/office/drawing/2014/main" id="{1A4EEC3F-1BA9-4CE2-7663-7D6920316698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167112922"/>
              </p:ext>
            </p:extLst>
          </p:nvPr>
        </p:nvGraphicFramePr>
        <p:xfrm>
          <a:off x="897404" y="3340109"/>
          <a:ext cx="8893830" cy="2887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305">
                  <a:extLst>
                    <a:ext uri="{9D8B030D-6E8A-4147-A177-3AD203B41FA5}">
                      <a16:colId xmlns:a16="http://schemas.microsoft.com/office/drawing/2014/main" val="2767412179"/>
                    </a:ext>
                  </a:extLst>
                </a:gridCol>
                <a:gridCol w="1482305">
                  <a:extLst>
                    <a:ext uri="{9D8B030D-6E8A-4147-A177-3AD203B41FA5}">
                      <a16:colId xmlns:a16="http://schemas.microsoft.com/office/drawing/2014/main" val="2028144089"/>
                    </a:ext>
                  </a:extLst>
                </a:gridCol>
                <a:gridCol w="1482305">
                  <a:extLst>
                    <a:ext uri="{9D8B030D-6E8A-4147-A177-3AD203B41FA5}">
                      <a16:colId xmlns:a16="http://schemas.microsoft.com/office/drawing/2014/main" val="3599799256"/>
                    </a:ext>
                  </a:extLst>
                </a:gridCol>
                <a:gridCol w="1482305">
                  <a:extLst>
                    <a:ext uri="{9D8B030D-6E8A-4147-A177-3AD203B41FA5}">
                      <a16:colId xmlns:a16="http://schemas.microsoft.com/office/drawing/2014/main" val="2868832633"/>
                    </a:ext>
                  </a:extLst>
                </a:gridCol>
                <a:gridCol w="1482305">
                  <a:extLst>
                    <a:ext uri="{9D8B030D-6E8A-4147-A177-3AD203B41FA5}">
                      <a16:colId xmlns:a16="http://schemas.microsoft.com/office/drawing/2014/main" val="810774665"/>
                    </a:ext>
                  </a:extLst>
                </a:gridCol>
                <a:gridCol w="1482305">
                  <a:extLst>
                    <a:ext uri="{9D8B030D-6E8A-4147-A177-3AD203B41FA5}">
                      <a16:colId xmlns:a16="http://schemas.microsoft.com/office/drawing/2014/main" val="1846541463"/>
                    </a:ext>
                  </a:extLst>
                </a:gridCol>
              </a:tblGrid>
              <a:tr h="577451"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FY2023A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FY2024E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FY2025E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FY2026E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N" sz="1500" dirty="0">
                          <a:solidFill>
                            <a:schemeClr val="tx1"/>
                          </a:solidFill>
                        </a:rPr>
                        <a:t>FY2027E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451540"/>
                  </a:ext>
                </a:extLst>
              </a:tr>
              <a:tr h="5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Revenue ($m)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1,447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1,443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1,471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1,498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1,522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7592031"/>
                  </a:ext>
                </a:extLst>
              </a:tr>
              <a:tr h="5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EBITDA ($m)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124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127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130 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	135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5434487"/>
                  </a:ext>
                </a:extLst>
              </a:tr>
              <a:tr h="5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EBITDA Margin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</a:rPr>
                        <a:t>8.6%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</a:rPr>
                        <a:t>8.8%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</a:rPr>
                        <a:t>8.8%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</a:rPr>
                        <a:t>8.9%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1" u="none" strike="noStrike" dirty="0">
                          <a:solidFill>
                            <a:srgbClr val="808080"/>
                          </a:solidFill>
                          <a:effectLst/>
                          <a:latin typeface="Times New Roman" panose="02020603050405020304" pitchFamily="18" charset="0"/>
                        </a:rPr>
                        <a:t>8.9%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9782934"/>
                  </a:ext>
                </a:extLst>
              </a:tr>
              <a:tr h="577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Free Cash Flow ($m)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119.4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85.0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93.7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97.3 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100.7 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7790"/>
                  </a:ext>
                </a:extLst>
              </a:tr>
            </a:tbl>
          </a:graphicData>
        </a:graphic>
      </p:graphicFrame>
      <p:sp>
        <p:nvSpPr>
          <p:cNvPr id="16" name="Subtitle 12"/>
          <p:cNvSpPr txBox="1">
            <a:spLocks/>
          </p:cNvSpPr>
          <p:nvPr/>
        </p:nvSpPr>
        <p:spPr>
          <a:xfrm>
            <a:off x="795529" y="2259199"/>
            <a:ext cx="9107487" cy="685800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400" b="1">
                <a:solidFill>
                  <a:schemeClr val="tx1"/>
                </a:solidFill>
              </a:rPr>
              <a:t>Summary financials and cash flow</a:t>
            </a:r>
            <a:endParaRPr lang="en-GB" sz="14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960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790575" y="558363"/>
            <a:ext cx="9107487" cy="2500147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r>
              <a:rPr lang="en-GB" sz="2000" b="1" dirty="0">
                <a:solidFill>
                  <a:schemeClr val="accent1"/>
                </a:solidFill>
              </a:rPr>
              <a:t>Management estimates</a:t>
            </a:r>
            <a:br>
              <a:rPr lang="en-GB" sz="2000" b="1" dirty="0">
                <a:solidFill>
                  <a:schemeClr val="tx1"/>
                </a:solidFill>
              </a:rPr>
            </a:br>
            <a:br>
              <a:rPr lang="en-GB" sz="2000" b="1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Reflect internal projections assuming continued revenue momentum and margin recovery, yielding a base case enterprise value of </a:t>
            </a:r>
            <a:r>
              <a:rPr lang="en-IN" sz="2000" b="1" dirty="0">
                <a:solidFill>
                  <a:schemeClr val="tx1"/>
                </a:solidFill>
              </a:rPr>
              <a:t>$1.2bn</a:t>
            </a:r>
            <a:r>
              <a:rPr lang="en-IN" sz="2000" dirty="0">
                <a:solidFill>
                  <a:schemeClr val="tx1"/>
                </a:solidFill>
              </a:rPr>
              <a:t> and implied share price of </a:t>
            </a:r>
            <a:r>
              <a:rPr lang="en-IN" sz="2000" b="1" dirty="0">
                <a:solidFill>
                  <a:schemeClr val="tx1"/>
                </a:solidFill>
              </a:rPr>
              <a:t>563p</a:t>
            </a:r>
            <a:r>
              <a:rPr lang="en-IN" sz="2000" dirty="0">
                <a:solidFill>
                  <a:schemeClr val="tx1"/>
                </a:solidFill>
              </a:rPr>
              <a:t>.</a:t>
            </a:r>
            <a:endParaRPr lang="en-GB" sz="2000" b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790575" y="3781425"/>
            <a:ext cx="9107487" cy="2939283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2000" b="1" dirty="0">
                <a:solidFill>
                  <a:schemeClr val="accent2"/>
                </a:solidFill>
              </a:rPr>
              <a:t>J.P. Morgan outside-in extrapolation</a:t>
            </a:r>
          </a:p>
          <a:p>
            <a:endParaRPr lang="en-GB" sz="2000" b="1" dirty="0">
              <a:solidFill>
                <a:schemeClr val="tx1"/>
              </a:solidFill>
            </a:endParaRPr>
          </a:p>
          <a:p>
            <a:r>
              <a:rPr lang="en-IN" sz="2000" dirty="0">
                <a:solidFill>
                  <a:schemeClr val="tx1"/>
                </a:solidFill>
              </a:rPr>
              <a:t>Applies more conservative growth and discount assumptions, producing an enterprise value of </a:t>
            </a:r>
            <a:r>
              <a:rPr lang="en-IN" sz="2000" b="1" dirty="0">
                <a:solidFill>
                  <a:schemeClr val="tx1"/>
                </a:solidFill>
              </a:rPr>
              <a:t>$1.1bn</a:t>
            </a:r>
            <a:r>
              <a:rPr lang="en-IN" sz="2000" dirty="0">
                <a:solidFill>
                  <a:schemeClr val="tx1"/>
                </a:solidFill>
              </a:rPr>
              <a:t> and an implied price of </a:t>
            </a:r>
            <a:r>
              <a:rPr lang="en-IN" sz="2000" b="1" dirty="0">
                <a:solidFill>
                  <a:schemeClr val="tx1"/>
                </a:solidFill>
              </a:rPr>
              <a:t>508p</a:t>
            </a:r>
            <a:r>
              <a:rPr lang="en-IN" sz="2000" dirty="0">
                <a:solidFill>
                  <a:schemeClr val="tx1"/>
                </a:solidFill>
              </a:rPr>
              <a:t>, providing a balanced downside cross-check.</a:t>
            </a:r>
            <a:endParaRPr lang="en-GB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51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12"/>
          <p:cNvSpPr txBox="1">
            <a:spLocks noGrp="1"/>
          </p:cNvSpPr>
          <p:nvPr>
            <p:ph type="title"/>
          </p:nvPr>
        </p:nvSpPr>
        <p:spPr>
          <a:xfrm>
            <a:off x="795465" y="1733707"/>
            <a:ext cx="9107487" cy="1860831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en-GB" sz="1400" b="1" dirty="0">
                <a:solidFill>
                  <a:schemeClr val="tx1"/>
                </a:solidFill>
              </a:rPr>
              <a:t>Net present value based on perpetuity growth method</a:t>
            </a:r>
            <a:br>
              <a:rPr lang="en-GB" sz="1400" b="1" dirty="0">
                <a:solidFill>
                  <a:schemeClr val="tx1"/>
                </a:solidFill>
              </a:rPr>
            </a:br>
            <a:br>
              <a:rPr lang="en-GB" sz="1400" b="1" dirty="0">
                <a:solidFill>
                  <a:schemeClr val="tx1"/>
                </a:solidFill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Forecast horizon: 11 years (FY2020–FY2030)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Key parameters: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WACC: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8.5%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Perpetuity growth rate (g):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0.5%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Implied NPV = 819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Implied Equity Value = 734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Implied Share Price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price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= 369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	Base Case Enterprise Value: 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≈ $1,204m</a:t>
            </a:r>
            <a:b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795465" y="4191661"/>
            <a:ext cx="8799366" cy="92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GB" sz="1400" b="1" dirty="0"/>
              <a:t>Sensitising firm value ($m) and implied offer price to WACC and TGR</a:t>
            </a:r>
          </a:p>
          <a:p>
            <a:pPr>
              <a:lnSpc>
                <a:spcPct val="110000"/>
              </a:lnSpc>
            </a:pPr>
            <a:endParaRPr lang="en-GB" sz="1400" b="1" dirty="0">
              <a:latin typeface="Arial"/>
            </a:endParaRPr>
          </a:p>
          <a:p>
            <a:pPr>
              <a:lnSpc>
                <a:spcPct val="110000"/>
              </a:lnSpc>
            </a:pPr>
            <a:endParaRPr lang="en-GB" sz="1400" b="1" dirty="0">
              <a:latin typeface="Arial"/>
            </a:endParaRPr>
          </a:p>
          <a:p>
            <a:pPr>
              <a:lnSpc>
                <a:spcPct val="110000"/>
              </a:lnSpc>
            </a:pPr>
            <a:endParaRPr lang="en-GB" sz="1400" b="1" dirty="0">
              <a:latin typeface="Arial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12C7CEA-A979-2109-894C-44C9331853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825976"/>
              </p:ext>
            </p:extLst>
          </p:nvPr>
        </p:nvGraphicFramePr>
        <p:xfrm>
          <a:off x="1093807" y="4656436"/>
          <a:ext cx="8501024" cy="2170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4432">
                  <a:extLst>
                    <a:ext uri="{9D8B030D-6E8A-4147-A177-3AD203B41FA5}">
                      <a16:colId xmlns:a16="http://schemas.microsoft.com/office/drawing/2014/main" val="3283397871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2085799518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3091291138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1066766941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1012225766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3492064285"/>
                    </a:ext>
                  </a:extLst>
                </a:gridCol>
                <a:gridCol w="1214432">
                  <a:extLst>
                    <a:ext uri="{9D8B030D-6E8A-4147-A177-3AD203B41FA5}">
                      <a16:colId xmlns:a16="http://schemas.microsoft.com/office/drawing/2014/main" val="930354979"/>
                    </a:ext>
                  </a:extLst>
                </a:gridCol>
              </a:tblGrid>
              <a:tr h="3100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000" u="none" strike="noStrike">
                          <a:effectLst/>
                        </a:rPr>
                        <a:t> 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Perpetuity Growth Rate (%)</a:t>
                      </a:r>
                      <a:endParaRPr lang="en-IN" sz="1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18730"/>
                  </a:ext>
                </a:extLst>
              </a:tr>
              <a:tr h="310005">
                <a:tc rowSpan="6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WACC (%)</a:t>
                      </a:r>
                      <a:endParaRPr lang="en-IN" sz="14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vert="vert27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 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0.00%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0.25%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0.50%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0.75%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1.00%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5700642"/>
                  </a:ext>
                </a:extLst>
              </a:tr>
              <a:tr h="31000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7.5%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1334 / 628c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1360 / 641c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1388 / 655c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1418 / 670c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1450 / 686c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0416990"/>
                  </a:ext>
                </a:extLst>
              </a:tr>
              <a:tr h="31000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8.0%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1245 / 583c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1267 / 594c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1290 / 606c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1315 / 618c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1342 / 632c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6150825"/>
                  </a:ext>
                </a:extLst>
              </a:tr>
              <a:tr h="31000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8.5%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1166 / 543c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1184 / 553c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1204 / 563c 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1225 / 573c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1248 / 585c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8744202"/>
                  </a:ext>
                </a:extLst>
              </a:tr>
              <a:tr h="31000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9.0%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1096 / 508c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1112 / 516c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1129 / 525c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1147 / 534c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1166 / 543c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7888156"/>
                  </a:ext>
                </a:extLst>
              </a:tr>
              <a:tr h="31000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9.5%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1034 / 477c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1047 / 484c 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1062 / 491c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1077 / 499c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1093 / 507c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51323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1215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ISUNDOENTRY" val="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PITCHPROSLIDECOUNT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3"/>
  <p:tag name="PRESENTATIONID" val="79c24579-ffe3-47dc-b441-3922fa2442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PM_PLACEHOLDER" val="JPM_PLACEHOLDER"/>
  <p:tag name="JPM_TEXT_SIZE" val="11"/>
  <p:tag name="OBJECTTITLESHAPEID" val="5"/>
  <p:tag name="THISSHAPESIZEANDPOSITIONDETAILS" val="top=143.875&amp;left=95.81102&amp;height=144.125&amp;width=312"/>
  <p:tag name="SHAPEFONTSIZE" val="11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16057</TotalTime>
  <Words>414</Words>
  <Application>Microsoft Office PowerPoint</Application>
  <PresentationFormat>Custom</PresentationFormat>
  <Paragraphs>84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Arial Narrow</vt:lpstr>
      <vt:lpstr>Calibri</vt:lpstr>
      <vt:lpstr>LF_Kai</vt:lpstr>
      <vt:lpstr>Symbol</vt:lpstr>
      <vt:lpstr>Times New Roman</vt:lpstr>
      <vt:lpstr>Wingdings</vt:lpstr>
      <vt:lpstr>PP+ UnifiedGIB - A4</vt:lpstr>
      <vt:lpstr>Illustrative DCF analysis for Happy Hour Co</vt:lpstr>
      <vt:lpstr>Management estimates  Reflect internal projections assuming continued revenue momentum and margin recovery, yielding a base case enterprise value of $1.2bn and implied share price of 563p.</vt:lpstr>
      <vt:lpstr>Net present value based on perpetuity growth method  Forecast horizon: 11 years (FY2020–FY2030) Key parameters:  WACC: 8.5%  Perpetuity growth rate (g): 0.5%  Implied NPV = 819  Implied Equity Value = 734  Implied Share Price price = 369  Base Case Enterprise Value: ≈ $1,204m 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Rohit Chiramaneni</cp:lastModifiedBy>
  <cp:revision>866</cp:revision>
  <cp:lastPrinted>2020-01-28T09:55:08Z</cp:lastPrinted>
  <dcterms:created xsi:type="dcterms:W3CDTF">2015-06-19T14:55:37Z</dcterms:created>
  <dcterms:modified xsi:type="dcterms:W3CDTF">2025-11-04T07:25:08Z</dcterms:modified>
</cp:coreProperties>
</file>