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"/>
  </p:notesMasterIdLst>
  <p:sldIdLst>
    <p:sldId id="576" r:id="rId2"/>
    <p:sldId id="577" r:id="rId3"/>
  </p:sldIdLst>
  <p:sldSz cx="10688638" cy="7562850"/>
  <p:notesSz cx="6805613" cy="9944100"/>
  <p:custDataLst>
    <p:tags r:id="rId5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5" autoAdjust="0"/>
    <p:restoredTop sz="95646" autoAdjust="0"/>
  </p:normalViewPr>
  <p:slideViewPr>
    <p:cSldViewPr snapToGrid="0" snapToObjects="1">
      <p:cViewPr varScale="1">
        <p:scale>
          <a:sx n="61" d="100"/>
          <a:sy n="61" d="100"/>
        </p:scale>
        <p:origin x="1764" y="60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Provide an investment recommendation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95528" y="1311158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Email to management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601198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700" dirty="0">
                <a:solidFill>
                  <a:schemeClr val="tx2"/>
                </a:solidFill>
              </a:rPr>
              <a:t>Source: </a:t>
            </a:r>
            <a:r>
              <a:rPr lang="en-GB" sz="700" dirty="0">
                <a:solidFill>
                  <a:srgbClr val="6D6E6A"/>
                </a:solidFill>
              </a:rPr>
              <a:t>Company Business Plan (January 2020); </a:t>
            </a:r>
            <a:r>
              <a:rPr lang="en-GB" sz="700" dirty="0">
                <a:solidFill>
                  <a:schemeClr val="tx2"/>
                </a:solidFill>
              </a:rPr>
              <a:t>Equity research; J.P. Morgan analysis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 Placeholder 2"/>
          <p:cNvSpPr txBox="1">
            <a:spLocks/>
          </p:cNvSpPr>
          <p:nvPr/>
        </p:nvSpPr>
        <p:spPr>
          <a:xfrm>
            <a:off x="795528" y="1591056"/>
            <a:ext cx="9107424" cy="2964759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>
            <a:lvl1pPr marL="12192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Tx/>
              <a:buNone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210312" indent="-210312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2pPr>
            <a:lvl3pPr marL="420624" indent="-210312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3pPr>
            <a:lvl4pPr marL="649224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4pPr>
            <a:lvl5pPr marL="87782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05FCF-8123-4744-E24E-F791A34338B1}"/>
              </a:ext>
            </a:extLst>
          </p:cNvPr>
          <p:cNvSpPr txBox="1"/>
          <p:nvPr/>
        </p:nvSpPr>
        <p:spPr>
          <a:xfrm>
            <a:off x="795528" y="1725310"/>
            <a:ext cx="9107424" cy="5182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IN" sz="1400" b="1" dirty="0"/>
              <a:t>Subject:</a:t>
            </a:r>
            <a:r>
              <a:rPr lang="en-IN" sz="1400" dirty="0"/>
              <a:t> Updated DCF Valuation and Key Considerations Following Fire Impact</a:t>
            </a:r>
          </a:p>
          <a:p>
            <a:pPr>
              <a:lnSpc>
                <a:spcPct val="125000"/>
              </a:lnSpc>
            </a:pPr>
            <a:endParaRPr lang="en-IN" sz="1400" dirty="0"/>
          </a:p>
          <a:p>
            <a:pPr>
              <a:lnSpc>
                <a:spcPct val="125000"/>
              </a:lnSpc>
            </a:pPr>
            <a:r>
              <a:rPr lang="en-IN" sz="1400" dirty="0"/>
              <a:t>Dear Management Team</a:t>
            </a:r>
          </a:p>
          <a:p>
            <a:pPr>
              <a:lnSpc>
                <a:spcPct val="125000"/>
              </a:lnSpc>
            </a:pPr>
            <a:r>
              <a:rPr lang="en-IN" sz="1400" dirty="0"/>
              <a:t>	Following our review of the updated financials and the revised DCF analysis, we have incorporated the requested adjustments into the model.</a:t>
            </a:r>
          </a:p>
          <a:p>
            <a:pPr>
              <a:lnSpc>
                <a:spcPct val="125000"/>
              </a:lnSpc>
            </a:pPr>
            <a:r>
              <a:rPr lang="en-IN" sz="1400" b="1" dirty="0"/>
              <a:t>Key considerations:</a:t>
            </a:r>
            <a:endParaRPr lang="en-IN" sz="1400" dirty="0"/>
          </a:p>
          <a:p>
            <a:pPr>
              <a:lnSpc>
                <a:spcPct val="125000"/>
              </a:lnSpc>
            </a:pPr>
            <a:r>
              <a:rPr lang="en-IN" sz="1400" dirty="0"/>
              <a:t>	The recent fire has a </a:t>
            </a:r>
            <a:r>
              <a:rPr lang="en-IN" sz="1400" b="1" dirty="0"/>
              <a:t>short-term operational impact</a:t>
            </a:r>
            <a:r>
              <a:rPr lang="en-IN" sz="1400" dirty="0"/>
              <a:t>, primarily affecting FY21 margins and production volumes. However, the underlying demand trends and brand strength remain intact, supporting recovery in subsequent </a:t>
            </a:r>
            <a:r>
              <a:rPr lang="en-IN" sz="1400" dirty="0" err="1"/>
              <a:t>periods.Insurance</a:t>
            </a:r>
            <a:r>
              <a:rPr lang="en-IN" sz="1400" dirty="0"/>
              <a:t> proceeds and contingency measures should </a:t>
            </a:r>
            <a:r>
              <a:rPr lang="en-IN" sz="1400" b="1" dirty="0"/>
              <a:t>partially offset the near-term earnings impact</a:t>
            </a:r>
            <a:r>
              <a:rPr lang="en-IN" sz="1400" dirty="0"/>
              <a:t>, while ongoing cost controls provide further resilience.</a:t>
            </a:r>
          </a:p>
          <a:p>
            <a:pPr>
              <a:lnSpc>
                <a:spcPct val="125000"/>
              </a:lnSpc>
            </a:pPr>
            <a:r>
              <a:rPr lang="en-IN" sz="1400" dirty="0"/>
              <a:t>	In the longer term, we view the incident as </a:t>
            </a:r>
            <a:r>
              <a:rPr lang="en-IN" sz="1400" b="1" dirty="0"/>
              <a:t>non-structural</a:t>
            </a:r>
            <a:r>
              <a:rPr lang="en-IN" sz="1400" dirty="0"/>
              <a:t> to the company’s core earnings potential and not expected to alter the long-term growth </a:t>
            </a:r>
            <a:r>
              <a:rPr lang="en-IN" sz="1400" dirty="0" err="1"/>
              <a:t>trajectory.Regarding</a:t>
            </a:r>
            <a:r>
              <a:rPr lang="en-IN" sz="1400" dirty="0"/>
              <a:t> the </a:t>
            </a:r>
            <a:r>
              <a:rPr lang="en-IN" sz="1400" b="1" dirty="0"/>
              <a:t>competitive bid report</a:t>
            </a:r>
            <a:r>
              <a:rPr lang="en-IN" sz="1400" dirty="0"/>
              <a:t>, while the headline valuation appears aggressive, we note that it likely assumes optimistic synergies and a lower discount rate than our base case; hence, we continue to view our valuation range as robust.</a:t>
            </a:r>
          </a:p>
          <a:p>
            <a:pPr>
              <a:lnSpc>
                <a:spcPct val="125000"/>
              </a:lnSpc>
            </a:pPr>
            <a:r>
              <a:rPr lang="en-IN" sz="1400" b="1" dirty="0"/>
              <a:t>Revised valuation:</a:t>
            </a:r>
            <a:endParaRPr lang="en-IN" sz="1400" dirty="0"/>
          </a:p>
          <a:p>
            <a:pPr>
              <a:lnSpc>
                <a:spcPct val="125000"/>
              </a:lnSpc>
            </a:pPr>
            <a:r>
              <a:rPr lang="en-IN" sz="1400" b="1" dirty="0"/>
              <a:t>	Preliminary valuation:</a:t>
            </a:r>
            <a:r>
              <a:rPr lang="en-IN" sz="1400" dirty="0"/>
              <a:t> $803m implied firm value → $718m equity value (361c per share)</a:t>
            </a:r>
          </a:p>
          <a:p>
            <a:pPr>
              <a:lnSpc>
                <a:spcPct val="125000"/>
              </a:lnSpc>
            </a:pPr>
            <a:r>
              <a:rPr lang="en-IN" sz="1400" b="1" dirty="0"/>
              <a:t>	Revised valuation (post-fire):</a:t>
            </a:r>
            <a:r>
              <a:rPr lang="en-IN" sz="1400" dirty="0"/>
              <a:t> $738m implied firm value → $654m equity value (329c per share)</a:t>
            </a:r>
            <a:br>
              <a:rPr lang="en-IN" sz="1400" dirty="0"/>
            </a:br>
            <a:r>
              <a:rPr lang="en-IN" sz="1400" dirty="0"/>
              <a:t>This represents a reduction of approximately </a:t>
            </a:r>
            <a:r>
              <a:rPr lang="en-IN" sz="1400" b="1" dirty="0"/>
              <a:t>10% in enterprise value</a:t>
            </a:r>
            <a:r>
              <a:rPr lang="en-IN" sz="1400" dirty="0"/>
              <a:t>, reflecting the temporary earnings impact.</a:t>
            </a:r>
          </a:p>
          <a:p>
            <a:pPr>
              <a:lnSpc>
                <a:spcPct val="125000"/>
              </a:lnSpc>
            </a:pPr>
            <a:endParaRPr lang="en-I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624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2"/>
          <p:cNvSpPr txBox="1">
            <a:spLocks/>
          </p:cNvSpPr>
          <p:nvPr/>
        </p:nvSpPr>
        <p:spPr>
          <a:xfrm>
            <a:off x="795528" y="655016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400" b="1" dirty="0">
                <a:solidFill>
                  <a:schemeClr val="tx1"/>
                </a:solidFill>
              </a:rPr>
              <a:t>Net present value based on perpetuity growth method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795528" y="1253198"/>
            <a:ext cx="8789906" cy="274556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Preliminary valuation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795528" y="4175134"/>
            <a:ext cx="8789906" cy="2745567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1200" b="1" dirty="0">
                <a:solidFill>
                  <a:schemeClr val="accent2"/>
                </a:solidFill>
              </a:rPr>
              <a:t>Revised valuation (post-fire)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854039"/>
              </p:ext>
            </p:extLst>
          </p:nvPr>
        </p:nvGraphicFramePr>
        <p:xfrm>
          <a:off x="992307" y="1532245"/>
          <a:ext cx="8396348" cy="2466520"/>
        </p:xfrm>
        <a:graphic>
          <a:graphicData uri="http://schemas.openxmlformats.org/drawingml/2006/table">
            <a:tbl>
              <a:tblPr firstRow="1" lastRow="1">
                <a:tableStyleId>{640930CC-2DD5-4645-9BF9-1F0F6B9BBA25}</a:tableStyleId>
              </a:tblPr>
              <a:tblGrid>
                <a:gridCol w="450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315">
                <a:tc>
                  <a:txBody>
                    <a:bodyPr/>
                    <a:lstStyle/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GB" sz="12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Value Based on 8.5% WACC &amp; 0.5% TGR</a:t>
                      </a:r>
                      <a:endParaRPr lang="en-GB" sz="12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12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Amount ($m)</a:t>
                      </a:r>
                      <a:endParaRPr lang="en-US" sz="12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12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of NPV</a:t>
                      </a:r>
                      <a:endParaRPr lang="en-US" sz="12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Present Value of Cash flows</a:t>
                      </a:r>
                      <a:endParaRPr lang="en-US" sz="12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409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50.9%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PV of Terminal Value</a:t>
                      </a:r>
                      <a:endParaRPr lang="en-US" sz="12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394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49.1%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Firm NPV </a:t>
                      </a:r>
                      <a:endParaRPr lang="en-US" sz="12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803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100.0%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Net debt as of Mar-20E</a:t>
                      </a:r>
                      <a:endParaRPr lang="en-US" sz="12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(85)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12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equity value </a:t>
                      </a:r>
                      <a:endParaRPr lang="en-US" sz="12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718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offer share price (c)</a:t>
                      </a:r>
                      <a:endParaRPr lang="en-US" sz="12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361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12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315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1200" b="0" i="1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premium to current</a:t>
                      </a:r>
                      <a:endParaRPr lang="en-US" sz="1200" b="0" i="1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12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118.8%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12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F5A0F-1B9F-D3E8-3836-FABA9A881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416161"/>
              </p:ext>
            </p:extLst>
          </p:nvPr>
        </p:nvGraphicFramePr>
        <p:xfrm>
          <a:off x="975268" y="4698124"/>
          <a:ext cx="8413387" cy="195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8360">
                  <a:extLst>
                    <a:ext uri="{9D8B030D-6E8A-4147-A177-3AD203B41FA5}">
                      <a16:colId xmlns:a16="http://schemas.microsoft.com/office/drawing/2014/main" val="1270519407"/>
                    </a:ext>
                  </a:extLst>
                </a:gridCol>
                <a:gridCol w="1261241">
                  <a:extLst>
                    <a:ext uri="{9D8B030D-6E8A-4147-A177-3AD203B41FA5}">
                      <a16:colId xmlns:a16="http://schemas.microsoft.com/office/drawing/2014/main" val="1579722445"/>
                    </a:ext>
                  </a:extLst>
                </a:gridCol>
                <a:gridCol w="1954924">
                  <a:extLst>
                    <a:ext uri="{9D8B030D-6E8A-4147-A177-3AD203B41FA5}">
                      <a16:colId xmlns:a16="http://schemas.microsoft.com/office/drawing/2014/main" val="1936396418"/>
                    </a:ext>
                  </a:extLst>
                </a:gridCol>
                <a:gridCol w="1978862">
                  <a:extLst>
                    <a:ext uri="{9D8B030D-6E8A-4147-A177-3AD203B41FA5}">
                      <a16:colId xmlns:a16="http://schemas.microsoft.com/office/drawing/2014/main" val="2702514664"/>
                    </a:ext>
                  </a:extLst>
                </a:gridCol>
              </a:tblGrid>
              <a:tr h="217104">
                <a:tc rowSpan="2"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Value Based on 8.5% WACC &amp; 0.5% TGR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Amount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% of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731759"/>
                  </a:ext>
                </a:extLst>
              </a:tr>
              <a:tr h="217104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($m)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NPV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45655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Present Value of Cashflows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345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46.7%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8696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PV of Terminal Value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394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53.3%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11039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Implied Firm NPV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738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100.0%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839513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Net debt &amp; adjustments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(85)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720423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Implied equity value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654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383157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Implied share price ($c)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329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911590"/>
                  </a:ext>
                </a:extLst>
              </a:tr>
              <a:tr h="2171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% premium to current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30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99.1% </a:t>
                      </a:r>
                      <a:endParaRPr lang="en-IN" sz="12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4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92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ISUNDOENTRY" val=""/>
  <p:tag name="PITCHPROSLIDECOUNT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6"/>
  <p:tag name="PRESENTATIONID" val="79c24579-ffe3-47dc-b441-3922fa244239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16099</TotalTime>
  <Words>401</Words>
  <Application>Microsoft Office PowerPoint</Application>
  <PresentationFormat>Custom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Calibri</vt:lpstr>
      <vt:lpstr>LF_Kai</vt:lpstr>
      <vt:lpstr>Symbol</vt:lpstr>
      <vt:lpstr>Wingdings</vt:lpstr>
      <vt:lpstr>PP+ UnifiedGIB - A4</vt:lpstr>
      <vt:lpstr>Provide an investment recommendation</vt:lpstr>
      <vt:lpstr>PowerPoint Presentation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Rohit Chiramaneni</cp:lastModifiedBy>
  <cp:revision>879</cp:revision>
  <cp:lastPrinted>2020-01-28T09:55:08Z</cp:lastPrinted>
  <dcterms:created xsi:type="dcterms:W3CDTF">2015-06-19T14:55:37Z</dcterms:created>
  <dcterms:modified xsi:type="dcterms:W3CDTF">2025-11-04T07:45:57Z</dcterms:modified>
</cp:coreProperties>
</file>