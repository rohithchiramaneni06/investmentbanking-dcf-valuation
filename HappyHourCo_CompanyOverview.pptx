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sldIdLst>
    <p:sldId id="256" r:id="rId2"/>
    <p:sldId id="258" r:id="rId3"/>
  </p:sldIdLst>
  <p:sldSz cx="10688638" cy="7562850"/>
  <p:notesSz cx="6858000" cy="9144000"/>
  <p:custDataLst>
    <p:tags r:id="rId4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2" userDrawn="1">
          <p15:clr>
            <a:srgbClr val="A4A3A4"/>
          </p15:clr>
        </p15:guide>
        <p15:guide id="2" orient="horz" pos="1192" userDrawn="1">
          <p15:clr>
            <a:srgbClr val="A4A3A4"/>
          </p15:clr>
        </p15:guide>
        <p15:guide id="3" orient="horz" pos="2432" userDrawn="1">
          <p15:clr>
            <a:srgbClr val="A4A3A4"/>
          </p15:clr>
        </p15:guide>
        <p15:guide id="4" orient="horz" pos="2777" userDrawn="1">
          <p15:clr>
            <a:srgbClr val="A4A3A4"/>
          </p15:clr>
        </p15:guide>
        <p15:guide id="5" orient="horz" pos="4015" userDrawn="1">
          <p15:clr>
            <a:srgbClr val="A4A3A4"/>
          </p15:clr>
        </p15:guide>
        <p15:guide id="6" orient="horz" pos="4160" userDrawn="1">
          <p15:clr>
            <a:srgbClr val="A4A3A4"/>
          </p15:clr>
        </p15:guide>
        <p15:guide id="7" pos="501" userDrawn="1">
          <p15:clr>
            <a:srgbClr val="A4A3A4"/>
          </p15:clr>
        </p15:guide>
        <p15:guide id="8" pos="3197" userDrawn="1">
          <p15:clr>
            <a:srgbClr val="A4A3A4"/>
          </p15:clr>
        </p15:guide>
        <p15:guide id="9" pos="3542" userDrawn="1">
          <p15:clr>
            <a:srgbClr val="A4A3A4"/>
          </p15:clr>
        </p15:guide>
        <p15:guide id="10" pos="62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8800"/>
    <a:srgbClr val="FFE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AFB1B3"/>
              </a:solidFill>
              <a:prstDash val="solid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6350" cmpd="sng">
              <a:solidFill>
                <a:srgbClr val="AFB1B3"/>
              </a:solidFill>
              <a:prstDash val="solid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6350" cmpd="sng">
              <a:solidFill>
                <a:srgbClr val="AFB1B3"/>
              </a:solidFill>
              <a:prstDash val="solid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 b="on"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242" y="78"/>
      </p:cViewPr>
      <p:guideLst>
        <p:guide orient="horz" pos="1002"/>
        <p:guide orient="horz" pos="1192"/>
        <p:guide orient="horz" pos="2432"/>
        <p:guide orient="horz" pos="2777"/>
        <p:guide orient="horz" pos="4015"/>
        <p:guide orient="horz" pos="4160"/>
        <p:guide pos="501"/>
        <p:guide pos="3197"/>
        <p:guide pos="3542"/>
        <p:guide pos="62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6" name="PresentationContact"/>
          <p:cNvSpPr>
            <a:spLocks noGrp="1"/>
          </p:cNvSpPr>
          <p:nvPr>
            <p:ph type="body" sz="quarter" idx="12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9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096512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9436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3767328"/>
            <a:ext cx="9107424" cy="137160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523036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resentationContact"/>
          <p:cNvSpPr>
            <a:spLocks noGrp="1"/>
          </p:cNvSpPr>
          <p:nvPr>
            <p:ph type="body" sz="quarter" idx="12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sp>
        <p:nvSpPr>
          <p:cNvPr id="8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9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096512" y="523036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11" name="CoverGraphic"/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795528" y="1389888"/>
            <a:ext cx="9107424" cy="237744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/>
              <a:t>[COVER GRAPHIC]</a:t>
            </a:r>
          </a:p>
        </p:txBody>
      </p:sp>
    </p:spTree>
    <p:extLst>
      <p:ext uri="{BB962C8B-B14F-4D97-AF65-F5344CB8AC3E}">
        <p14:creationId xmlns:p14="http://schemas.microsoft.com/office/powerpoint/2010/main" val="64292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/>
          </p:nvPr>
        </p:nvSpPr>
        <p:spPr>
          <a:xfrm>
            <a:off x="0" y="0"/>
            <a:ext cx="10689336" cy="7562089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715768"/>
            <a:ext cx="9034272" cy="112471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760720"/>
            <a:ext cx="10698480" cy="106070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20040" y="3310128"/>
            <a:ext cx="8668511" cy="393192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320040" y="2926080"/>
            <a:ext cx="8668511" cy="399593"/>
          </a:xfrm>
        </p:spPr>
        <p:txBody>
          <a:bodyPr vert="horz" wrap="square" lIns="0" tIns="0" rIns="0" bIns="0" anchor="ctr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000" b="0" i="0" cap="all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25654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 hasCustomPrompt="1"/>
          </p:nvPr>
        </p:nvSpPr>
        <p:spPr>
          <a:xfrm>
            <a:off x="181966" y="173736"/>
            <a:ext cx="10287000" cy="7150608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on Insert Picture to add image</a:t>
            </a:r>
          </a:p>
        </p:txBody>
      </p:sp>
      <p:sp>
        <p:nvSpPr>
          <p:cNvPr id="4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181966" y="2713939"/>
            <a:ext cx="9034272" cy="112471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Rectangle 3"/>
          <p:cNvSpPr>
            <a:spLocks noGrp="1"/>
          </p:cNvSpPr>
          <p:nvPr>
            <p:ph type="body" sz="quarter" idx="12" hasCustomPrompt="1"/>
          </p:nvPr>
        </p:nvSpPr>
        <p:spPr>
          <a:xfrm>
            <a:off x="182880" y="5760720"/>
            <a:ext cx="10287000" cy="106070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3310128"/>
            <a:ext cx="8668511" cy="365760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548640" y="2916936"/>
            <a:ext cx="8668511" cy="399593"/>
          </a:xfrm>
        </p:spPr>
        <p:txBody>
          <a:bodyPr vert="horz" wrap="square" lIns="0" tIns="0" rIns="0" bIns="0" anchor="ctr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000" b="0" i="0" cap="all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401870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/>
          </p:nvPr>
        </p:nvSpPr>
        <p:spPr>
          <a:xfrm>
            <a:off x="350215" y="885139"/>
            <a:ext cx="3145536" cy="4718304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reeform 12"/>
          <p:cNvSpPr>
            <a:spLocks noGrp="1"/>
          </p:cNvSpPr>
          <p:nvPr>
            <p:ph type="pic" sz="quarter" idx="11"/>
          </p:nvPr>
        </p:nvSpPr>
        <p:spPr>
          <a:xfrm>
            <a:off x="3767328" y="885139"/>
            <a:ext cx="3145536" cy="4718304"/>
          </a:xfrm>
          <a:prstGeom prst="rect">
            <a:avLst/>
          </a:prstGeo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reeform 14"/>
          <p:cNvSpPr>
            <a:spLocks noGrp="1"/>
          </p:cNvSpPr>
          <p:nvPr>
            <p:ph type="pic" sz="quarter" idx="12"/>
          </p:nvPr>
        </p:nvSpPr>
        <p:spPr>
          <a:xfrm>
            <a:off x="7187184" y="885139"/>
            <a:ext cx="3145536" cy="4718304"/>
          </a:xfrm>
          <a:prstGeom prst="rect">
            <a:avLst/>
          </a:prstGeo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9230868" y="547726"/>
            <a:ext cx="1106424" cy="256032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r">
              <a:lnSpc>
                <a:spcPct val="110000"/>
              </a:lnSpc>
              <a:spcBef>
                <a:spcPts val="0"/>
              </a:spcBef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350215" y="5760720"/>
            <a:ext cx="9989820" cy="338328"/>
          </a:xfrm>
        </p:spPr>
        <p:txBody>
          <a:bodyPr vert="horz" wrap="square" lIns="0" tIns="0" rIns="0" bIns="0" anchor="ctr">
            <a:noAutofit/>
          </a:bodyPr>
          <a:lstStyle>
            <a:lvl1pPr algn="ctr">
              <a:lnSpc>
                <a:spcPct val="110000"/>
              </a:lnSpc>
              <a:spcBef>
                <a:spcPct val="0"/>
              </a:spcBef>
              <a:buFontTx/>
              <a:buNone/>
              <a:defRPr sz="1600" b="0" i="0" cap="all" spc="8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361834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57093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5270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46361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91931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26782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612411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09427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27956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239156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6013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41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AU" sz="900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AU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696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AU" sz="1800" b="0" i="0" dirty="0">
                <a:solidFill>
                  <a:schemeClr val="tx2"/>
                </a:solidFill>
                <a:latin typeface="Arial" panose="020B0604020202020204" pitchFamily="34" charset="0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AU" sz="1300" b="0" i="0" dirty="0">
                <a:solidFill>
                  <a:schemeClr val="tx2"/>
                </a:solidFill>
                <a:latin typeface="Arial" panose="020B0604020202020204" pitchFamily="34" charset="0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276677254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12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179970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9107424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</p:spTree>
    <p:extLst>
      <p:ext uri="{BB962C8B-B14F-4D97-AF65-F5344CB8AC3E}">
        <p14:creationId xmlns:p14="http://schemas.microsoft.com/office/powerpoint/2010/main" val="2983351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70971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880407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139696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7"/>
          <p:cNvSpPr>
            <a:spLocks noGrp="1"/>
          </p:cNvSpPr>
          <p:nvPr>
            <p:ph sz="quarter" idx="16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8"/>
          <p:cNvSpPr>
            <a:spLocks noGrp="1"/>
          </p:cNvSpPr>
          <p:nvPr>
            <p:ph sz="quarter" idx="17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ageSubtitle"/>
          <p:cNvSpPr>
            <a:spLocks noGrp="1"/>
          </p:cNvSpPr>
          <p:nvPr>
            <p:ph type="subTitle" sz="quarter" idx="18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7971561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892808"/>
            <a:ext cx="0" cy="4480560"/>
          </a:xfrm>
          <a:prstGeom prst="line">
            <a:avLst/>
          </a:prstGeom>
          <a:ln w="9525">
            <a:solidFill>
              <a:srgbClr val="AFB1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21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7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AU" sz="7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AU" sz="850" b="0" i="0" dirty="0">
              <a:solidFill>
                <a:schemeClr val="bg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AU" sz="900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endParaRPr lang="en-AU" sz="900" b="0" i="0" cap="all" spc="15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AU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 panose="05000000000000000000" pitchFamily="2" charset="2"/>
        <a:buChar char="n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 panose="05000000000000000000" pitchFamily="2" charset="2"/>
        <a:buChar char="n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</p:spPr>
        <p:txBody>
          <a:bodyPr/>
          <a:lstStyle/>
          <a:p>
            <a:r>
              <a:rPr lang="en-AU" dirty="0" err="1"/>
              <a:t>HappyHour</a:t>
            </a:r>
            <a:r>
              <a:rPr lang="en-AU" dirty="0"/>
              <a:t> Co. Company Profile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12" name="TextBox 1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95528" y="1892808"/>
            <a:ext cx="4279392" cy="1965960"/>
          </a:xfrm>
          <a:prstGeom prst="rect">
            <a:avLst/>
          </a:prstGeom>
          <a:noFill/>
        </p:spPr>
        <p:txBody>
          <a:bodyPr vert="horz" wrap="square" lIns="91440" tIns="36576" rIns="36576" bIns="36576" rtlCol="0" anchor="t">
            <a:noAutofit/>
          </a:bodyPr>
          <a:lstStyle/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endParaRPr lang="en-AU" sz="9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528" y="1645920"/>
            <a:ext cx="4279392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462272"/>
            <a:ext cx="4279392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Shareholders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623560" y="4488592"/>
            <a:ext cx="4279391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Indicative valuation</a:t>
            </a:r>
          </a:p>
        </p:txBody>
      </p:sp>
      <p:sp>
        <p:nvSpPr>
          <p:cNvPr id="19" name="TextBox 18"/>
          <p:cNvSpPr txBox="1"/>
          <p:nvPr>
            <p:custDataLst>
              <p:tags r:id="rId3"/>
            </p:custDataLst>
          </p:nvPr>
        </p:nvSpPr>
        <p:spPr>
          <a:xfrm>
            <a:off x="795528" y="6605078"/>
            <a:ext cx="9107423" cy="124906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AU" sz="800" dirty="0">
                <a:solidFill>
                  <a:schemeClr val="tx2"/>
                </a:solidFill>
                <a:latin typeface="Arial" panose="020B0604020202020204" pitchFamily="34" charset="0"/>
              </a:rPr>
              <a:t>Source: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1645920"/>
            <a:ext cx="4279391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Key financials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9457671" y="487407"/>
            <a:ext cx="445281" cy="445281"/>
            <a:chOff x="7791881" y="273464"/>
            <a:chExt cx="864014" cy="864014"/>
          </a:xfrm>
        </p:grpSpPr>
        <p:grpSp>
          <p:nvGrpSpPr>
            <p:cNvPr id="44" name="Group 43"/>
            <p:cNvGrpSpPr/>
            <p:nvPr/>
          </p:nvGrpSpPr>
          <p:grpSpPr>
            <a:xfrm>
              <a:off x="8091488" y="323288"/>
              <a:ext cx="261937" cy="196405"/>
              <a:chOff x="8091488" y="323288"/>
              <a:chExt cx="261937" cy="196405"/>
            </a:xfrm>
          </p:grpSpPr>
          <p:sp>
            <p:nvSpPr>
              <p:cNvPr id="42" name="Isosceles Triangle 41"/>
              <p:cNvSpPr/>
              <p:nvPr/>
            </p:nvSpPr>
            <p:spPr>
              <a:xfrm>
                <a:off x="8156445" y="323288"/>
                <a:ext cx="134885" cy="146581"/>
              </a:xfrm>
              <a:prstGeom prst="triangle">
                <a:avLst/>
              </a:prstGeom>
              <a:gradFill flip="none" rotWithShape="1">
                <a:gsLst>
                  <a:gs pos="0">
                    <a:srgbClr val="FFE36D"/>
                  </a:gs>
                  <a:gs pos="74000">
                    <a:srgbClr val="A88800"/>
                  </a:gs>
                  <a:gs pos="83000">
                    <a:srgbClr val="A88800"/>
                  </a:gs>
                  <a:gs pos="100000">
                    <a:srgbClr val="B99D30"/>
                  </a:gs>
                </a:gsLst>
                <a:lin ang="16200000" scaled="1"/>
                <a:tileRect/>
              </a:gra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3" name="Isosceles Triangle 42"/>
              <p:cNvSpPr/>
              <p:nvPr/>
            </p:nvSpPr>
            <p:spPr>
              <a:xfrm>
                <a:off x="8091488" y="427466"/>
                <a:ext cx="261937" cy="92227"/>
              </a:xfrm>
              <a:prstGeom prst="triangl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 flipH="1">
              <a:off x="7882779" y="549854"/>
              <a:ext cx="705835" cy="391801"/>
              <a:chOff x="8814495" y="616264"/>
              <a:chExt cx="705835" cy="391801"/>
            </a:xfrm>
            <a:gradFill>
              <a:gsLst>
                <a:gs pos="0">
                  <a:srgbClr val="A88800"/>
                </a:gs>
                <a:gs pos="50000">
                  <a:srgbClr val="FFCF01"/>
                </a:gs>
                <a:gs pos="100000">
                  <a:srgbClr val="FFE36D"/>
                </a:gs>
              </a:gsLst>
              <a:path path="circle">
                <a:fillToRect l="50000" t="50000" r="50000" b="50000"/>
              </a:path>
            </a:gradFill>
          </p:grpSpPr>
          <p:sp>
            <p:nvSpPr>
              <p:cNvPr id="23" name="Rectangle 22"/>
              <p:cNvSpPr/>
              <p:nvPr/>
            </p:nvSpPr>
            <p:spPr>
              <a:xfrm>
                <a:off x="8814495" y="726717"/>
                <a:ext cx="378000" cy="8284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 rot="5400000">
                <a:off x="8787211" y="726717"/>
                <a:ext cx="303745" cy="82839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 rot="5400000">
                <a:off x="8947996" y="726717"/>
                <a:ext cx="303745" cy="82839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 rot="12600000">
                <a:off x="9142330" y="704320"/>
                <a:ext cx="378000" cy="303745"/>
                <a:chOff x="9192495" y="616264"/>
                <a:chExt cx="378000" cy="303745"/>
              </a:xfrm>
              <a:grpFill/>
            </p:grpSpPr>
            <p:sp>
              <p:nvSpPr>
                <p:cNvPr id="25" name="Rectangle 24"/>
                <p:cNvSpPr/>
                <p:nvPr/>
              </p:nvSpPr>
              <p:spPr>
                <a:xfrm rot="5400000">
                  <a:off x="9294035" y="726717"/>
                  <a:ext cx="303745" cy="82839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 rot="5400000">
                  <a:off x="9133250" y="726717"/>
                  <a:ext cx="303745" cy="82839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9192495" y="726717"/>
                  <a:ext cx="378000" cy="8284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</p:grpSp>
        </p:grpSp>
        <p:sp>
          <p:nvSpPr>
            <p:cNvPr id="41" name="Oval 40"/>
            <p:cNvSpPr/>
            <p:nvPr/>
          </p:nvSpPr>
          <p:spPr>
            <a:xfrm>
              <a:off x="7791881" y="273464"/>
              <a:ext cx="864014" cy="864014"/>
            </a:xfrm>
            <a:prstGeom prst="ellipse">
              <a:avLst/>
            </a:prstGeom>
            <a:noFill/>
            <a:ln w="25400">
              <a:solidFill>
                <a:srgbClr val="B99D3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rgbClr r="0" g="0" b="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</a:pPr>
              <a:endParaRPr lang="en-AU" sz="1200" dirty="0">
                <a:solidFill>
                  <a:schemeClr val="tx2"/>
                </a:solidFill>
              </a:endParaRPr>
            </a:p>
          </p:txBody>
        </p:sp>
      </p:grpSp>
      <p:sp>
        <p:nvSpPr>
          <p:cNvPr id="46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71212D-EDD7-4F85-24DC-AABA0F8DF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301590"/>
              </p:ext>
            </p:extLst>
          </p:nvPr>
        </p:nvGraphicFramePr>
        <p:xfrm>
          <a:off x="965389" y="1933777"/>
          <a:ext cx="4279392" cy="2095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79392">
                  <a:extLst>
                    <a:ext uri="{9D8B030D-6E8A-4147-A177-3AD203B41FA5}">
                      <a16:colId xmlns:a16="http://schemas.microsoft.com/office/drawing/2014/main" val="343464415"/>
                    </a:ext>
                  </a:extLst>
                </a:gridCol>
              </a:tblGrid>
              <a:tr h="1790689">
                <a:tc>
                  <a:txBody>
                    <a:bodyPr/>
                    <a:lstStyle/>
                    <a:p>
                      <a:pPr marL="288925" indent="-28575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Producer and marketer of beer, spirits and non-alcoholic beverages </a:t>
                      </a:r>
                    </a:p>
                    <a:p>
                      <a:pPr marL="288925" indent="-28575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Operations also include distribution and direct sales </a:t>
                      </a:r>
                    </a:p>
                    <a:p>
                      <a:pPr marL="288925" indent="-28575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Geography of operations: Singapore, Malaysia, China, Owns and operates manufacturing facilities in Singapore and China, while manufacturing is outsourced in Malaysia to Brew Co.</a:t>
                      </a:r>
                    </a:p>
                    <a:p>
                      <a:pPr marL="288925" indent="-28575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Growth strategy: recently expanded operations to China and has new facilities planned for Cambodia 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813029"/>
                  </a:ext>
                </a:extLst>
              </a:tr>
              <a:tr h="134302">
                <a:tc>
                  <a:txBody>
                    <a:bodyPr/>
                    <a:lstStyle/>
                    <a:p>
                      <a:pPr marL="288925" indent="-28575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370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BB68B7-648F-8A6E-0FBA-50CB97A07FBD}"/>
              </a:ext>
            </a:extLst>
          </p:cNvPr>
          <p:cNvSpPr txBox="1"/>
          <p:nvPr/>
        </p:nvSpPr>
        <p:spPr>
          <a:xfrm>
            <a:off x="5704880" y="1933777"/>
            <a:ext cx="4116749" cy="248035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sz="1300" b="1" u="dotted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Fiscal year		FY18A  FY19A     FY20E  </a:t>
            </a:r>
            <a:r>
              <a:rPr lang="en-IN" sz="1200" u="dotted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		900         961           1071</a:t>
            </a:r>
          </a:p>
          <a:p>
            <a:pPr>
              <a:lnSpc>
                <a:spcPct val="11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EBITDA		225         250           300</a:t>
            </a:r>
          </a:p>
          <a:p>
            <a:pPr>
              <a:lnSpc>
                <a:spcPct val="11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Net Profit(NPAT)	135         153           193</a:t>
            </a:r>
          </a:p>
          <a:p>
            <a:pPr algn="l">
              <a:lnSpc>
                <a:spcPct val="150000"/>
              </a:lnSpc>
            </a:pPr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EBITDA Margin(FY20E) = 300/1071 = 	28.0%</a:t>
            </a:r>
          </a:p>
          <a:p>
            <a:pPr algn="l"/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Net Profit Margin (FY20E) = 193/1071 = 18.0%</a:t>
            </a:r>
            <a:endParaRPr lang="en-IN" sz="1200" u="dotted" dirty="0">
              <a:solidFill>
                <a:schemeClr val="tx2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sz="1300" b="1" u="dotted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Fiscal year		FY18A  FY19A     FY20E  </a:t>
            </a:r>
            <a:r>
              <a:rPr lang="en-IN" sz="1200" u="dotted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Beer		100         110           135</a:t>
            </a:r>
          </a:p>
          <a:p>
            <a:pPr>
              <a:lnSpc>
                <a:spcPct val="11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Spirits		75           85             105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Non-alcoholic beverages    </a:t>
            </a: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50           55               60</a:t>
            </a:r>
          </a:p>
          <a:p>
            <a:pPr algn="l">
              <a:lnSpc>
                <a:spcPct val="110000"/>
              </a:lnSpc>
            </a:pPr>
            <a:endParaRPr lang="en-IN" sz="1200" u="dotted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F37E4-BDC7-E58F-6D16-BC1A85ADA4AA}"/>
              </a:ext>
            </a:extLst>
          </p:cNvPr>
          <p:cNvSpPr txBox="1"/>
          <p:nvPr/>
        </p:nvSpPr>
        <p:spPr>
          <a:xfrm>
            <a:off x="880458" y="5081456"/>
            <a:ext cx="4109531" cy="8891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IN" sz="1200" b="1" u="heavy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Share Holder 	Stake</a:t>
            </a:r>
          </a:p>
          <a:p>
            <a:pPr>
              <a:lnSpc>
                <a:spcPct val="110000"/>
              </a:lnSpc>
            </a:pPr>
            <a:r>
              <a:rPr lang="en-IN"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Happy Family	60%(</a:t>
            </a:r>
            <a:r>
              <a:rPr lang="en-IN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Majority,selling</a:t>
            </a:r>
            <a:r>
              <a:rPr lang="en-IN"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 stake)</a:t>
            </a:r>
          </a:p>
          <a:p>
            <a:pPr>
              <a:lnSpc>
                <a:spcPct val="110000"/>
              </a:lnSpc>
            </a:pPr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Hour Family		20%</a:t>
            </a:r>
          </a:p>
          <a:p>
            <a:pPr>
              <a:lnSpc>
                <a:spcPct val="110000"/>
              </a:lnSpc>
            </a:pPr>
            <a:r>
              <a:rPr lang="en-IN"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Co Family		20%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8F6A4-70FE-566F-6D8D-1780683F7940}"/>
              </a:ext>
            </a:extLst>
          </p:cNvPr>
          <p:cNvSpPr txBox="1"/>
          <p:nvPr/>
        </p:nvSpPr>
        <p:spPr>
          <a:xfrm>
            <a:off x="5623560" y="4933436"/>
            <a:ext cx="4049910" cy="8309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IN" sz="1200" b="1" dirty="0"/>
              <a:t>Industry EV/EBITDA range:</a:t>
            </a:r>
            <a:r>
              <a:rPr lang="en-IN" sz="1200" dirty="0"/>
              <a:t> 10.0x – 11.5x</a:t>
            </a:r>
          </a:p>
          <a:p>
            <a:r>
              <a:rPr lang="en-IN" sz="1200" b="1" dirty="0"/>
              <a:t>FY20E EBITDA:</a:t>
            </a:r>
            <a:r>
              <a:rPr lang="en-IN" sz="1200" dirty="0"/>
              <a:t> US$300mm</a:t>
            </a:r>
          </a:p>
          <a:p>
            <a:r>
              <a:rPr lang="en-IN" sz="1200" b="1" dirty="0"/>
              <a:t>Indicative Enterprise Value:</a:t>
            </a:r>
            <a:r>
              <a:rPr lang="en-IN" sz="1200" dirty="0"/>
              <a:t> </a:t>
            </a:r>
            <a:r>
              <a:rPr lang="en-IN" sz="1200" b="1" dirty="0"/>
              <a:t>US$3.0bn – 3.45bn</a:t>
            </a:r>
            <a:endParaRPr lang="en-IN" sz="1200" dirty="0"/>
          </a:p>
          <a:p>
            <a:r>
              <a:rPr lang="en-IN" sz="1200" b="1" dirty="0"/>
              <a:t>Preliminary market </a:t>
            </a:r>
            <a:r>
              <a:rPr lang="en-IN" sz="1200" b="1" dirty="0" err="1"/>
              <a:t>rumor</a:t>
            </a:r>
            <a:r>
              <a:rPr lang="en-IN" sz="1200" b="1" dirty="0"/>
              <a:t> valuation:</a:t>
            </a:r>
            <a:r>
              <a:rPr lang="en-IN" sz="1200" dirty="0"/>
              <a:t> ~US$3.5bn</a:t>
            </a:r>
            <a:endParaRPr lang="en-IN" sz="1200" b="0" i="0" dirty="0">
              <a:solidFill>
                <a:schemeClr val="tx2"/>
              </a:solidFill>
              <a:latin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88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auction process and key workstreams</a:t>
            </a:r>
          </a:p>
        </p:txBody>
      </p:sp>
      <p:sp>
        <p:nvSpPr>
          <p:cNvPr id="9" name="PageNumber"/>
          <p:cNvSpPr txBox="1"/>
          <p:nvPr/>
        </p:nvSpPr>
        <p:spPr>
          <a:xfrm>
            <a:off x="5233101" y="6895540"/>
            <a:ext cx="222437" cy="17794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76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47477229"/>
              </p:ext>
            </p:extLst>
          </p:nvPr>
        </p:nvGraphicFramePr>
        <p:xfrm>
          <a:off x="913379" y="1745511"/>
          <a:ext cx="9279932" cy="4789068"/>
        </p:xfrm>
        <a:graphic>
          <a:graphicData uri="http://schemas.openxmlformats.org/drawingml/2006/table">
            <a:tbl>
              <a:tblPr firstRow="1" lastRow="1" bandRow="1">
                <a:tableStyleId>{640930CC-2DD5-4645-9BF9-1F0F6B9BBA25}</a:tableStyleId>
              </a:tblPr>
              <a:tblGrid>
                <a:gridCol w="1081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9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3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949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300" b="1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1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Date</a:t>
                      </a:r>
                      <a:endParaRPr lang="en-US" sz="1300" b="1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1" i="0" u="none" strike="noStrike" cap="none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Event</a:t>
                      </a:r>
                      <a:endParaRPr lang="en-US" sz="1300" b="1" i="0" u="none" strike="noStrike" cap="none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1" i="0" u="none" strike="noStrike" cap="none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Key workstreams</a:t>
                      </a:r>
                      <a:endParaRPr lang="en-US" sz="1300" b="1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998">
                <a:tc rowSpan="3"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GB" sz="1300" b="1" i="0" u="none" strike="noStrike" kern="1200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 1: Indicative Bid Phase </a:t>
                      </a:r>
                    </a:p>
                  </a:txBody>
                  <a:tcPr marL="44487" marR="88975" marT="17795" marB="0" anchor="ctr"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Mar 19 2020</a:t>
                      </a: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Data Room Opens</a:t>
                      </a: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Access to Information Memorandum, due diligence reports, and forecasts.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Bidders may submit up to 20 questions to </a:t>
                      </a:r>
                      <a:r>
                        <a:rPr lang="en-IN" sz="13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SellerAdvisorCo</a:t>
                      </a: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; responses shared with all bidders confidentially.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Submit non-binding bid including valuation range, structure, assumptions, and sources of funds. 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13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SellerAdvisorCo</a:t>
                      </a: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selects shortlisted bidders for Final Bid Phase.</a:t>
                      </a: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998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Apr 9-13 2020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Q&amp;A Period 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806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May 13 2020  </a:t>
                      </a:r>
                    </a:p>
                    <a:p>
                      <a:pPr marL="0" indent="0" algn="l">
                        <a:lnSpc>
                          <a:spcPct val="2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Late May 2020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Indicative Bid Submission Deadline</a:t>
                      </a:r>
                    </a:p>
                    <a:p>
                      <a:pPr marL="0" indent="0" algn="l">
                        <a:lnSpc>
                          <a:spcPct val="2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Shortlist Announcement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5227">
                <a:tc rowSpan="2"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GB" sz="1300" b="1" i="0" u="none" strike="noStrike" kern="1200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 2: Final Bid Phase </a:t>
                      </a:r>
                    </a:p>
                  </a:txBody>
                  <a:tcPr marL="44487" marR="88975" marT="17795" marB="0" anchor="ctr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Late May 2020</a:t>
                      </a: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June – July 2020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Process Letter </a:t>
                      </a:r>
                      <a:r>
                        <a:rPr lang="en-US" sz="1300" b="0" i="0" u="none" strike="noStrike" cap="none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Releeased</a:t>
                      </a: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Due </a:t>
                      </a:r>
                      <a:r>
                        <a:rPr lang="en-US" sz="1300" b="0" i="0" u="none" strike="noStrike" cap="none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Deligence</a:t>
                      </a: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  Period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Invitation to shortlisted bidders with detailed next steps.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Access to expanded data room, management presentations, and site visits.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Submission of binding offers with financing details and transaction documents.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Evaluation and negotiation with preferred bidder leading to transaction signing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5227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Late July 2020</a:t>
                      </a: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Post-July 2020</a:t>
                      </a: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Final Bid Submission  Deadline </a:t>
                      </a: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1300" b="0" i="0" u="none" strike="noStrike" cap="none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Preffered</a:t>
                      </a:r>
                      <a:r>
                        <a:rPr lang="en-US" sz="1300" b="0" i="0" u="none" strike="noStrike" cap="non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 Bid Selection</a:t>
                      </a:r>
                    </a:p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300" b="0" i="0" u="none" strike="noStrike" cap="none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915666" y="1964858"/>
            <a:ext cx="971616" cy="1864544"/>
          </a:xfrm>
          <a:prstGeom prst="rect">
            <a:avLst/>
          </a:prstGeom>
          <a:noFill/>
          <a:ln w="952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975" tIns="44487" rIns="88975" bIns="44487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US" sz="1168" dirty="0">
              <a:solidFill>
                <a:schemeClr val="tx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379" y="4175608"/>
            <a:ext cx="971616" cy="2276706"/>
          </a:xfrm>
          <a:prstGeom prst="rect">
            <a:avLst/>
          </a:prstGeom>
          <a:noFill/>
          <a:ln w="952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975" tIns="44487" rIns="88975" bIns="44487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US" sz="1168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9799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HASH" val="oEPR7013YDACV1OW/yTvP98MGmsri81YEpjyvw3k9LM="/>
  <p:tag name="TEMPLATEVERSIONDATE" val="10/25/2019 15:18:15"/>
  <p:tag name="TEMPLATENAME" val="PitchPRO+"/>
  <p:tag name="PITCHPROSLIDECOUNT" val="2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5232af7-736d-4928-93a7-3c7ce97efd42"/>
  <p:tag name="SIZEANDPOSITION" val="0d50b0f8-9899-4e4a-97a7-221586b77d6b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tru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ISUNDOENTRY" val="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ITFEm/hamP7FeDF+j4MzTF/DY7pc/ID0CrwiQCeG6Q3ZbkYN9kw0o43kW6Qbdu+f5CAWHmEpq3so6opFXGHCIryG48dQJbTN7+RLxYoT92IlmY9cLnVg9l9DCwhF/f2iDZIf08IVowzJEguOyNt9w6Ia9jRIOwC5jUU9opnac8J4P9lPqTMZvLPgqpzFp84dej+azc4+PEbN+tlGIrwSvYVjJyvIKNT7lkvI9cvZPyJwhjEGnRaQqCxBo9SdeQvhyXb5m+K9N+NR7BWCqz/JSEV/Q37+6ZUPnBtT6cqJWkQ+nWpDks6rW7wvD0rcOL6xdN8Z6kmAynLmmv8V2poX2PesDqyBmP2TVfG4iwcBasTM3qqePhXPilyhL29VswD7M7zM/XYHLk58FQFlnI7+5m2UdTo/6UsqFC4i0x5rYtj60pko41HWMakxlfJUPX7MV3lbNZYZgDEXAnQyNO65Yc0tol0600ZJp6OXj/ggW1JeZ6cznfwrlpQBo4UwVxTWi5oHZEk/ImHbvuNYKGJCxNLw4+kR1zwQoZ0q83yPKwijhVyqbNtuyGAaTk/lDotoEJFCwGsMpMKEWpN4tAchKBEMsK/N3bzTos7Gd3IDvHQrXo13Q6YoNoRIw2VT3BbTGmRmCMLXx/FzFvknKX8JRXJzmadUbvlm8ymH6FRyMxRW+snvbqrqp8tq3umEZcudJA59gl64VL74/rXzf/o0ns/uyDUErpJoRJWuOYS+WjBLYLwsVSYAuU1tHv7N4eczqZPJFbAyUDTgaE6e8SITb5uK+oKRnm743yS+KK83U5+D0tPdgwmVUmQMLS8l9KBRNm/FP0zjXoGjzsItd+ioL8M6OrkJt1GUV8f3xzTQ0PIC1o+BZNIYxkzdxjP6SB6L3Se3by6Hi5y9p5iOpKvwF1NotQfi9sKRE8MSZ16P8Bmmtc0IqmEOTnz9eg/VYzzfJqMr6EIrlz3XRnPpzvNcc/4xnXDQmF0QL+8azIw3S3facSDcfrmnUdf2cKO63NcmZYWsNEjcvmjLx/fX/Lq13Uj3a9N9d/tB1ZiyhL+jczHAN+n+qI5aNNQmWHe4G+Czgq4MKsQ1ZJb/7ctXbcyqnJnsJyFHCYUsKYKaseAWiuLMJV2uTDMEqg7K52L1fdMFvZ5CNUe68vnq7cax0HmSlZcvdXLSnJVq5ErZyrKpE5opqm7Y7sJktZo3SqpeORyvG4A9BL4hZzkVg11kTrI0HvzQNx887fFHr+i1tOrEbrQ2cdGmrgdeaM9ahl7EVdvLN36+RXzMmhH1EfmfbRUrwnyClXO5k/E6puLBMwmQmrFixa6Q1ELmCeH5A9F/3PWAu9xLkjF0D/rrQpSZoTQX8wIhPrrmi1NrILRxVPRpGqoRfKpF+QzdeNK79eu3dy+KvC6NRW+/9Cz3gRY7nxGD75opy3EO1Ql5TSXM3PopmaboQwxT97Z5GZWMwC66kmnT9JXiYjMhwZWvqEzMrCiOCkfsXy4gX4zgzh/YVin6O70KgjxLrsHVdXxT88izm9qBqMuRfCqkN8BjCg8FeAQPw4KvgWeggCc+nLsSnMjGjEsDfPC5+Uy2bT2lUEwBq31GpV+6l0eN0MDcRWmf/qN5vcLG7zPszotglyDtlF2jiBNAkGdprcF0xbLPHyxx73J1VHQ72LXrOiYB9FoxoQOEqeGCOvS3aRduJAZJfOynCKyu4HQUrKz/qR8UIlxEETE3K7SAyZaIjn3ezYSD6JjdpyvaWsLBQLn/6y++m9pLXtfubhX3/YY6fhgsMDqixDhxVq0IU28b4cJB84gTrF+11NNZ9s1yvF8HGtc1C1KvbsQykdTSuN2X5YyyXbvXPBXBORRbJfjjST94sT5gNS81awCNBzwZ6k//PLgYNLLAEvZBXNkS9Y657vNyNb5rb0x7IeFzS5c6YOl1yDXBEiZ582Afxbcd/D0/slBquJ4phRomDISyvJty4hgzBG8qADMC0gwOKkQmLzXGCeCezhCOnc7Fr0xVQgAx4qBALHOYPrHPoxH075gNjBfboLP9Kk8eqAvfOk41c+abP+EWSI2CnzgVn/vw7UA/a5KszXyimESn811n0JuMk7HPYWfwwDVvhhQtNAi3KDQtkE7j68jXo/L06HzrzRYs7YzPSZUWSkG5kcbQfbdKTUNxaJzdDJsNikK8jrD6cPxrDFI7bpS+9DOhLPw3W0JZQV952FKIw4sUXLvSqw/dhNDW4jsOBqwQMJSG7wq7aZtT9kteEZCM/M+1YP+XdKSHBQJw4F6QT/jZO+WzUJlBz1/1gnjOeFwOmFT8ZI/aOQsQnPxe+ySqTKX96hMVllQnvdB9xWvYdATLTOvoPY3mxa+3MwpeKlVWKQtldgeV+8N2zW0mPbSbXjD4Uu3B/8FQA4NBScDoeRhmZFwY4qlzgRqlyGQHyl3zw3h+UDe8j/0pMOn/3Wuez6IeQ4gM69Ewg/ZGShUJArMBEP3qyfv0thq6YbRtVlNxDCoT7eSxuPU+WLW2akXgimBHpLsuY0A3ZIHOdLtXe4s2g/XsA0i2ndOsy73FnEVrtTgPbCRlZ1eETnNMtp6+pHSC8Dew3z99GuxQgZcK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STRIBUTIONTYPE" val="External"/>
  <p:tag name="PITCHPROSLIDEID" val="256"/>
  <p:tag name="PRESENTATIONID" val="a91b9cc0-df25-4e77-a993-c673ccc9c2a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BJECTTITLESHAPEID" val="13"/>
  <p:tag name="THISSHAPESIZEANDPOSITIONDETAILS" val="top=149.04&amp;left=62.64&amp;height=154.8&amp;width=336.9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PageNo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STRIBUTIONTYPE" val="External"/>
  <p:tag name="PITCHPROSLIDEID" val="256"/>
  <p:tag name="PRESENTATIONID" val="f6697a79-f97a-4327-b638-8b63a488487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SSHAPESIZEANDPOSITIONDETAILS" val="top=165.6&amp;left=37.44&amp;height=572.46&amp;width=717.12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172, 166, 162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 136, 191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Map Grey. RGB(221,220,219)">
      <a:srgbClr val="DDDCDB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  <a:custClr name="Neutral Grey. RGB(233,231,229)">
      <a:srgbClr val="E9E7E5"/>
    </a:custClr>
    <a:custClr name="40% of Ice Blue. RGB(208, 224, 232)">
      <a:srgbClr val="D0E0E8"/>
    </a:custClr>
    <a:custClr name="40% Sand. RGB(235, 224, 172)">
      <a:srgbClr val="EBE0AC"/>
    </a:custClr>
    <a:custClr name="40% Lilac. RGB(188, 190, 222)">
      <a:srgbClr val="BCBEDE"/>
    </a:custClr>
    <a:custClr name="H- Glacier Blue. RGB(221,234,237)">
      <a:srgbClr val="DDEAED"/>
    </a:custClr>
  </a:custClrLst>
  <a:extLst>
    <a:ext uri="{05A4C25C-085E-4340-85A3-A5531E510DB2}">
      <thm15:themeFamily xmlns:thm15="http://schemas.microsoft.com/office/thememl/2012/main" name="56b5bb0d-2f61-4d54-8cbf-2c285620e792.potx" id="{F6E0622A-2784-44F4-99C7-15C7C0F5D709}" vid="{0ED3CDAB-2188-4B27-AEDC-194B090485E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Template_UnifiedGIB_A4</Template>
  <TotalTime>144</TotalTime>
  <Words>382</Words>
  <Application>Microsoft Office PowerPoint</Application>
  <PresentationFormat>Custom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Times New Roman</vt:lpstr>
      <vt:lpstr>Wingdings</vt:lpstr>
      <vt:lpstr>PP+ UnifiedGIB - A4</vt:lpstr>
      <vt:lpstr>HappyHour Co. Company Profile</vt:lpstr>
      <vt:lpstr>Overview of auction process and key workstreams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HappyHour Co</dc:title>
  <dc:creator>Pasupathy, Gan (CIB IBC, AUS)</dc:creator>
  <cp:lastModifiedBy>Rohit Chiramaneni</cp:lastModifiedBy>
  <cp:revision>20</cp:revision>
  <dcterms:created xsi:type="dcterms:W3CDTF">2020-04-17T12:29:06Z</dcterms:created>
  <dcterms:modified xsi:type="dcterms:W3CDTF">2025-11-03T18:19:51Z</dcterms:modified>
</cp:coreProperties>
</file>